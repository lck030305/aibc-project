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8" r:id="rId3"/>
    <p:sldId id="269" r:id="rId4"/>
    <p:sldId id="271" r:id="rId5"/>
    <p:sldId id="270" r:id="rId6"/>
    <p:sldId id="265" r:id="rId7"/>
    <p:sldId id="26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18710-71B7-4E59-959A-920B16E90FC0}" type="datetimeFigureOut">
              <a:rPr lang="en-SG" smtClean="0"/>
              <a:t>15/8/2026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7459D5-9111-4F9A-8B9D-2AAE5751AC1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31867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upportgowhere.life.gov.sg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755984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SG" sz="3600" b="1" dirty="0">
                <a:solidFill>
                  <a:srgbClr val="FFFFFF"/>
                </a:solidFill>
                <a:latin typeface="Calibri"/>
              </a:rPr>
              <a:t>Matching Welfare Resources to the Families They Serve</a:t>
            </a:r>
            <a:endParaRPr sz="3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3704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SG" sz="2600" b="0" dirty="0">
                <a:solidFill>
                  <a:srgbClr val="CADCFC"/>
                </a:solidFill>
                <a:latin typeface="Calibri"/>
              </a:rPr>
              <a:t>Multi-Agent Decision Support for Social Assistance Officers (SAOs)</a:t>
            </a:r>
            <a:endParaRPr sz="2600" b="0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3749039"/>
            <a:ext cx="18288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132959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SG" b="0" dirty="0">
                <a:solidFill>
                  <a:srgbClr val="CADCFC"/>
                </a:solidFill>
                <a:latin typeface="Calibri"/>
              </a:rPr>
              <a:t>Lim Chee Kuen (Danny), 1998459F</a:t>
            </a:r>
          </a:p>
          <a:p>
            <a:pPr algn="l"/>
            <a:endParaRPr lang="en-SG" b="0" dirty="0">
              <a:solidFill>
                <a:srgbClr val="CADCFC"/>
              </a:solidFill>
              <a:latin typeface="Calibri"/>
            </a:endParaRPr>
          </a:p>
          <a:p>
            <a:pPr algn="l"/>
            <a:r>
              <a:rPr sz="1600" b="0" dirty="0">
                <a:solidFill>
                  <a:srgbClr val="CADCFC"/>
                </a:solidFill>
                <a:latin typeface="Calibri"/>
              </a:rPr>
              <a:t>Ministry of Social and Family Development</a:t>
            </a:r>
            <a:endParaRPr lang="en-SG" sz="1600" b="0" dirty="0">
              <a:solidFill>
                <a:srgbClr val="CADCFC"/>
              </a:solidFill>
              <a:latin typeface="Calibri"/>
            </a:endParaRPr>
          </a:p>
          <a:p>
            <a:pPr algn="l"/>
            <a:endParaRPr lang="en-SG" sz="1600" dirty="0">
              <a:solidFill>
                <a:srgbClr val="CADCFC"/>
              </a:solidFill>
              <a:latin typeface="Calibri"/>
            </a:endParaRPr>
          </a:p>
          <a:p>
            <a:pPr algn="l"/>
            <a:r>
              <a:rPr lang="en-SG" sz="1600" b="0" dirty="0">
                <a:solidFill>
                  <a:srgbClr val="CADCFC"/>
                </a:solidFill>
                <a:latin typeface="Calibri"/>
              </a:rPr>
              <a:t>14 August 2026</a:t>
            </a:r>
            <a:endParaRPr sz="1600" b="0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332720" cy="25237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 dirty="0">
                <a:solidFill>
                  <a:srgbClr val="CADCFC"/>
                </a:solidFill>
                <a:latin typeface="Calibri"/>
              </a:rPr>
              <a:t>Singapore Polytechnic AI Champions Bootcamp</a:t>
            </a:r>
            <a:r>
              <a:rPr lang="en-SG" sz="1400" b="0" dirty="0">
                <a:solidFill>
                  <a:srgbClr val="CADCFC"/>
                </a:solidFill>
                <a:latin typeface="Calibri"/>
              </a:rPr>
              <a:t>!</a:t>
            </a:r>
            <a:r>
              <a:rPr sz="1400" b="0" dirty="0">
                <a:solidFill>
                  <a:srgbClr val="CADCFC"/>
                </a:solidFill>
                <a:latin typeface="Calibri"/>
              </a:rPr>
              <a:t> · 2026</a:t>
            </a:r>
            <a:r>
              <a:rPr lang="en-SG" sz="1400" b="0" dirty="0">
                <a:solidFill>
                  <a:srgbClr val="CADCFC"/>
                </a:solidFill>
                <a:latin typeface="Calibri"/>
              </a:rPr>
              <a:t> (SP-600362) – Blended Class 2</a:t>
            </a:r>
            <a:endParaRPr sz="1400" b="0" dirty="0">
              <a:solidFill>
                <a:srgbClr val="CADCF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914400" y="4846320"/>
            <a:ext cx="10363200" cy="658368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78350F"/>
                </a:solidFill>
              </a:rPr>
              <a:t>🎯  This capstone addresses Financial Assistance &amp; Social Support — the highlighted tab within Help Those in Need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123CA6-91EC-55C7-E025-B82D8725E95E}"/>
              </a:ext>
            </a:extLst>
          </p:cNvPr>
          <p:cNvSpPr/>
          <p:nvPr/>
        </p:nvSpPr>
        <p:spPr>
          <a:xfrm>
            <a:off x="299050" y="4770151"/>
            <a:ext cx="11283350" cy="98862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11277600" cy="45550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600" b="1" i="0" dirty="0">
                <a:solidFill>
                  <a:srgbClr val="1F2A44"/>
                </a:solidFill>
              </a:rPr>
              <a:t>About MSF — </a:t>
            </a:r>
            <a:r>
              <a:rPr lang="en-SG" sz="2600" b="1" dirty="0">
                <a:solidFill>
                  <a:srgbClr val="1F2A44"/>
                </a:solidFill>
              </a:rPr>
              <a:t>w</a:t>
            </a:r>
            <a:r>
              <a:rPr sz="2600" b="1" i="0" dirty="0">
                <a:solidFill>
                  <a:srgbClr val="1F2A44"/>
                </a:solidFill>
              </a:rPr>
              <a:t>h</a:t>
            </a:r>
            <a:r>
              <a:rPr lang="en-SG" sz="2600" b="1" i="0" dirty="0">
                <a:solidFill>
                  <a:srgbClr val="1F2A44"/>
                </a:solidFill>
              </a:rPr>
              <a:t>at we do</a:t>
            </a:r>
            <a:endParaRPr sz="2600" b="1" i="0" dirty="0">
              <a:solidFill>
                <a:srgbClr val="1F2A44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6143935"/>
            <a:ext cx="11277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 i="1" dirty="0">
                <a:solidFill>
                  <a:srgbClr val="6B7280"/>
                </a:solidFill>
              </a:rPr>
              <a:t>Source: Ministry of Social and Family Development (msf.gov.sg)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311A935-2E9B-45DE-B4D0-59FF2C1B0A24}"/>
              </a:ext>
            </a:extLst>
          </p:cNvPr>
          <p:cNvGrpSpPr/>
          <p:nvPr/>
        </p:nvGrpSpPr>
        <p:grpSpPr>
          <a:xfrm>
            <a:off x="457200" y="1536569"/>
            <a:ext cx="10972800" cy="2711261"/>
            <a:chOff x="609600" y="1417320"/>
            <a:chExt cx="10972800" cy="2711261"/>
          </a:xfrm>
        </p:grpSpPr>
        <p:pic>
          <p:nvPicPr>
            <p:cNvPr id="4" name="Picture 3" descr="msf_what_we_do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417320"/>
              <a:ext cx="10972800" cy="2711261"/>
            </a:xfrm>
            <a:prstGeom prst="rect">
              <a:avLst/>
            </a:prstGeom>
            <a:ln w="12700">
              <a:solidFill>
                <a:srgbClr val="E5E7EB"/>
              </a:solidFill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AA6CE34-8FC8-5835-357A-0139046AECD0}"/>
                </a:ext>
              </a:extLst>
            </p:cNvPr>
            <p:cNvSpPr/>
            <p:nvPr/>
          </p:nvSpPr>
          <p:spPr>
            <a:xfrm>
              <a:off x="5260157" y="1536569"/>
              <a:ext cx="1659117" cy="4053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600" cy="502920"/>
          </a:xfrm>
          <a:prstGeom prst="rect">
            <a:avLst/>
          </a:prstGeom>
          <a:noFill/>
        </p:spPr>
        <p:txBody>
          <a:bodyPr wrap="square" lIns="137160" tIns="73152" rIns="137160" bIns="73152" anchor="t">
            <a:spAutoFit/>
          </a:bodyPr>
          <a:lstStyle/>
          <a:p>
            <a:pPr algn="l"/>
            <a:r>
              <a:rPr sz="2800" b="1" i="0">
                <a:solidFill>
                  <a:srgbClr val="1F2A44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77600" cy="347788"/>
          </a:xfrm>
          <a:prstGeom prst="rect">
            <a:avLst/>
          </a:prstGeom>
          <a:noFill/>
        </p:spPr>
        <p:txBody>
          <a:bodyPr wrap="square" lIns="137160" tIns="73152" rIns="137160" bIns="73152" anchor="t">
            <a:spAutoFit/>
          </a:bodyPr>
          <a:lstStyle/>
          <a:p>
            <a:pPr algn="l"/>
            <a:r>
              <a:rPr sz="1300" b="0" i="1" dirty="0">
                <a:solidFill>
                  <a:srgbClr val="6B7280"/>
                </a:solidFill>
              </a:rPr>
              <a:t>The gap this </a:t>
            </a:r>
            <a:r>
              <a:rPr lang="en-SG" sz="1300" b="0" i="1" dirty="0">
                <a:solidFill>
                  <a:srgbClr val="6B7280"/>
                </a:solidFill>
              </a:rPr>
              <a:t>project</a:t>
            </a:r>
            <a:r>
              <a:rPr sz="1300" b="0" i="1" dirty="0">
                <a:solidFill>
                  <a:srgbClr val="6B7280"/>
                </a:solidFill>
              </a:rPr>
              <a:t> closes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840" cy="100584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📋  SAOs at MSF sift through 750+ welfare schemes across 12 categories to match each client's unique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971800"/>
            <a:ext cx="10911840" cy="100584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⏱️  Manual cross-referencing takes hours per case — shrinking time for real-time conversations and meaningful client engagement.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06240"/>
            <a:ext cx="10911840" cy="10972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2200" b="1" i="0" dirty="0">
                <a:solidFill>
                  <a:srgbClr val="78350F"/>
                </a:solidFill>
              </a:rPr>
              <a:t>🎯  How might we surface the right resources instantly, so SAOs can focus on the families they serve?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77600" cy="274320"/>
          </a:xfrm>
          <a:prstGeom prst="rect">
            <a:avLst/>
          </a:prstGeom>
          <a:noFill/>
        </p:spPr>
        <p:txBody>
          <a:bodyPr wrap="square" lIns="137160" tIns="73152" rIns="137160" bIns="73152" anchor="ctr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</a:rPr>
              <a:t>Distilled from the full 150-word problem-statement paragraph (see samples/problem statement.jpeg for the AI-assisted original)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A9B09A-CDAF-0374-3FA1-52495B1AA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542" y="2811611"/>
            <a:ext cx="7338696" cy="38865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776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>
                <a:solidFill>
                  <a:srgbClr val="1F2A44"/>
                </a:solidFill>
              </a:rPr>
              <a:t>15 Agents — Deep Analysis Mode · CrewAI Hierarchical Crew  (Topic 5.5)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6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Opt-in multi-agent crew alongside fast single-shot RAG. 3 opt-in Human-in-the-Loop gates give the SAO end-to-end control.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13309" y="868680"/>
            <a:ext cx="2743200" cy="292608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i="0">
                <a:solidFill>
                  <a:srgbClr val="111827"/>
                </a:solidFill>
              </a:rPr>
              <a:t>SAO interview note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84909" y="1161288"/>
            <a:ext cx="0" cy="73152"/>
          </a:xfrm>
          <a:prstGeom prst="line">
            <a:avLst/>
          </a:prstGeom>
          <a:ln w="19050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13309" y="1234440"/>
            <a:ext cx="2743200" cy="329184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i="0" dirty="0">
                <a:solidFill>
                  <a:srgbClr val="111827"/>
                </a:solidFill>
              </a:rPr>
              <a:t>Stage 0</a:t>
            </a:r>
            <a:r>
              <a:rPr lang="en-SG" sz="900" b="1" i="0" dirty="0">
                <a:solidFill>
                  <a:srgbClr val="111827"/>
                </a:solidFill>
              </a:rPr>
              <a:t>: GovTech </a:t>
            </a:r>
            <a:r>
              <a:rPr sz="900" b="1" i="0" dirty="0">
                <a:solidFill>
                  <a:srgbClr val="111827"/>
                </a:solidFill>
              </a:rPr>
              <a:t>CLOAK PII Guard (Topic 5.5.2)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84909" y="1563624"/>
            <a:ext cx="0" cy="73152"/>
          </a:xfrm>
          <a:prstGeom prst="line">
            <a:avLst/>
          </a:prstGeom>
          <a:ln w="19050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13309" y="1636776"/>
            <a:ext cx="2743200" cy="292608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i="0">
                <a:solidFill>
                  <a:srgbClr val="111827"/>
                </a:solidFill>
              </a:rPr>
              <a:t>Safety check (Topic 2.6)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84909" y="1929384"/>
            <a:ext cx="0" cy="73152"/>
          </a:xfrm>
          <a:prstGeom prst="line">
            <a:avLst/>
          </a:prstGeom>
          <a:ln w="19050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13309" y="2002536"/>
            <a:ext cx="2743200" cy="329184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i="0" dirty="0">
                <a:solidFill>
                  <a:srgbClr val="111827"/>
                </a:solidFill>
              </a:rPr>
              <a:t>HITL #1 (opt-in)</a:t>
            </a:r>
            <a:r>
              <a:rPr lang="en-SG" sz="900" b="1" i="0" dirty="0">
                <a:solidFill>
                  <a:srgbClr val="111827"/>
                </a:solidFill>
              </a:rPr>
              <a:t>: </a:t>
            </a:r>
            <a:r>
              <a:rPr sz="900" b="1" i="0" dirty="0">
                <a:solidFill>
                  <a:srgbClr val="111827"/>
                </a:solidFill>
              </a:rPr>
              <a:t>SAO reviews AI's case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7949" y="2029968"/>
            <a:ext cx="3200400" cy="3108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</a:rPr>
              <a:t>Toggle in sidebar · Topic 2.6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84909" y="2331720"/>
            <a:ext cx="0" cy="82296"/>
          </a:xfrm>
          <a:prstGeom prst="line">
            <a:avLst/>
          </a:prstGeom>
          <a:ln w="19050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669" y="2414016"/>
            <a:ext cx="11460480" cy="30632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9298" y="2450591"/>
            <a:ext cx="111861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 dirty="0" err="1">
                <a:solidFill>
                  <a:srgbClr val="F97316"/>
                </a:solidFill>
              </a:rPr>
              <a:t>CrewAI</a:t>
            </a:r>
            <a:r>
              <a:rPr sz="1000" b="1" i="0" dirty="0">
                <a:solidFill>
                  <a:srgbClr val="F97316"/>
                </a:solidFill>
              </a:rPr>
              <a:t> Hierarchical Crew (Topic 5.5)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47549" y="2779776"/>
            <a:ext cx="3474720" cy="502920"/>
          </a:xfrm>
          <a:prstGeom prst="roundRect">
            <a:avLst/>
          </a:prstGeom>
          <a:solidFill>
            <a:srgbClr val="FFEDD5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i="0">
                <a:solidFill>
                  <a:srgbClr val="111827"/>
                </a:solidFill>
              </a:rPr>
              <a:t>Triaging Agent</a:t>
            </a:r>
          </a:p>
          <a:p>
            <a:pPr algn="ctr"/>
            <a:r>
              <a:rPr sz="1000" b="1" i="0">
                <a:solidFill>
                  <a:srgbClr val="111827"/>
                </a:solidFill>
              </a:rPr>
              <a:t>reads case · picks 2–4 of 12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9429" y="2871216"/>
            <a:ext cx="2743200" cy="3657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</a:rPr>
              <a:t>← 1 LLM call (gpt-4.1-mini)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668" y="3511296"/>
            <a:ext cx="1645920" cy="457200"/>
          </a:xfrm>
          <a:prstGeom prst="roundRect">
            <a:avLst/>
          </a:prstGeom>
          <a:solidFill>
            <a:srgbClr val="FFEDD5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i="0">
                <a:solidFill>
                  <a:srgbClr val="111827"/>
                </a:solidFill>
              </a:rPr>
              <a:t>Financial</a:t>
            </a:r>
          </a:p>
          <a:p>
            <a:pPr algn="ctr"/>
            <a:r>
              <a:rPr sz="900" b="1" i="0">
                <a:solidFill>
                  <a:srgbClr val="111827"/>
                </a:solidFill>
              </a:rPr>
              <a:t>agent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258628" y="3282696"/>
            <a:ext cx="4526281" cy="228600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246181" y="3511296"/>
            <a:ext cx="1645920" cy="457200"/>
          </a:xfrm>
          <a:prstGeom prst="roundRect">
            <a:avLst/>
          </a:prstGeom>
          <a:solidFill>
            <a:srgbClr val="FFEDD5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i="0">
                <a:solidFill>
                  <a:srgbClr val="111827"/>
                </a:solidFill>
              </a:rPr>
              <a:t>Family</a:t>
            </a:r>
          </a:p>
          <a:p>
            <a:pPr algn="ctr"/>
            <a:r>
              <a:rPr sz="900" b="1" i="0">
                <a:solidFill>
                  <a:srgbClr val="111827"/>
                </a:solidFill>
              </a:rPr>
              <a:t>agent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069140" y="3282696"/>
            <a:ext cx="2715769" cy="228600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056693" y="3511296"/>
            <a:ext cx="1645920" cy="457200"/>
          </a:xfrm>
          <a:prstGeom prst="roundRect">
            <a:avLst/>
          </a:prstGeom>
          <a:solidFill>
            <a:srgbClr val="FFEDD5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i="0">
                <a:solidFill>
                  <a:srgbClr val="111827"/>
                </a:solidFill>
              </a:rPr>
              <a:t>Caregiving</a:t>
            </a:r>
          </a:p>
          <a:p>
            <a:pPr algn="ctr"/>
            <a:r>
              <a:rPr sz="900" b="1" i="0">
                <a:solidFill>
                  <a:srgbClr val="111827"/>
                </a:solidFill>
              </a:rPr>
              <a:t>agent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879653" y="3282696"/>
            <a:ext cx="905256" cy="228600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867204" y="3511296"/>
            <a:ext cx="1645920" cy="457200"/>
          </a:xfrm>
          <a:prstGeom prst="roundRect">
            <a:avLst/>
          </a:prstGeom>
          <a:solidFill>
            <a:srgbClr val="FFEDD5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i="0">
                <a:solidFill>
                  <a:srgbClr val="111827"/>
                </a:solidFill>
              </a:rPr>
              <a:t>Healthcare</a:t>
            </a:r>
          </a:p>
          <a:p>
            <a:pPr algn="ctr"/>
            <a:r>
              <a:rPr sz="900" b="1" i="0">
                <a:solidFill>
                  <a:srgbClr val="111827"/>
                </a:solidFill>
              </a:rPr>
              <a:t>agent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84909" y="3282696"/>
            <a:ext cx="905256" cy="228600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677717" y="3511296"/>
            <a:ext cx="1645920" cy="457200"/>
          </a:xfrm>
          <a:prstGeom prst="roundRect">
            <a:avLst/>
          </a:prstGeom>
          <a:solidFill>
            <a:srgbClr val="FFEDD5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i="0">
                <a:solidFill>
                  <a:srgbClr val="111827"/>
                </a:solidFill>
              </a:rPr>
              <a:t>Mental Health</a:t>
            </a:r>
          </a:p>
          <a:p>
            <a:pPr algn="ctr"/>
            <a:r>
              <a:rPr sz="900" b="1" i="0">
                <a:solidFill>
                  <a:srgbClr val="111827"/>
                </a:solidFill>
              </a:rPr>
              <a:t>agent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84909" y="3282696"/>
            <a:ext cx="2715768" cy="228600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488229" y="3511296"/>
            <a:ext cx="1645920" cy="457200"/>
          </a:xfrm>
          <a:prstGeom prst="roundRect">
            <a:avLst/>
          </a:prstGeom>
          <a:solidFill>
            <a:srgbClr val="FFEDD5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i="0">
                <a:solidFill>
                  <a:srgbClr val="111827"/>
                </a:solidFill>
              </a:rPr>
              <a:t>Crisis</a:t>
            </a:r>
          </a:p>
          <a:p>
            <a:pPr algn="ctr"/>
            <a:r>
              <a:rPr sz="900" b="1" i="0">
                <a:solidFill>
                  <a:srgbClr val="111827"/>
                </a:solidFill>
              </a:rPr>
              <a:t>agent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84909" y="3282696"/>
            <a:ext cx="4526280" cy="228600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5668" y="4078224"/>
            <a:ext cx="1645920" cy="457200"/>
          </a:xfrm>
          <a:prstGeom prst="roundRect">
            <a:avLst/>
          </a:prstGeom>
          <a:solidFill>
            <a:srgbClr val="FFEDD5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i="0">
                <a:solidFill>
                  <a:srgbClr val="111827"/>
                </a:solidFill>
              </a:rPr>
              <a:t>Disability</a:t>
            </a:r>
          </a:p>
          <a:p>
            <a:pPr algn="ctr"/>
            <a:r>
              <a:rPr sz="900" b="1" i="0">
                <a:solidFill>
                  <a:srgbClr val="111827"/>
                </a:solidFill>
              </a:rPr>
              <a:t>agent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258628" y="3282696"/>
            <a:ext cx="4526281" cy="795528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246181" y="4078224"/>
            <a:ext cx="1645920" cy="457200"/>
          </a:xfrm>
          <a:prstGeom prst="roundRect">
            <a:avLst/>
          </a:prstGeom>
          <a:solidFill>
            <a:srgbClr val="FFEDD5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i="0">
                <a:solidFill>
                  <a:srgbClr val="111827"/>
                </a:solidFill>
              </a:rPr>
              <a:t>Youth</a:t>
            </a:r>
          </a:p>
          <a:p>
            <a:pPr algn="ctr"/>
            <a:r>
              <a:rPr sz="900" b="1" i="0">
                <a:solidFill>
                  <a:srgbClr val="111827"/>
                </a:solidFill>
              </a:rPr>
              <a:t>agent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3069140" y="3282696"/>
            <a:ext cx="2715769" cy="795528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056693" y="4078224"/>
            <a:ext cx="1645920" cy="457200"/>
          </a:xfrm>
          <a:prstGeom prst="roundRect">
            <a:avLst/>
          </a:prstGeom>
          <a:solidFill>
            <a:srgbClr val="FFEDD5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i="0">
                <a:solidFill>
                  <a:srgbClr val="111827"/>
                </a:solidFill>
              </a:rPr>
              <a:t>Education</a:t>
            </a:r>
          </a:p>
          <a:p>
            <a:pPr algn="ctr"/>
            <a:r>
              <a:rPr sz="900" b="1" i="0">
                <a:solidFill>
                  <a:srgbClr val="111827"/>
                </a:solidFill>
              </a:rPr>
              <a:t>agent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4879653" y="3282696"/>
            <a:ext cx="905256" cy="795528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867204" y="4078224"/>
            <a:ext cx="1645920" cy="457200"/>
          </a:xfrm>
          <a:prstGeom prst="roundRect">
            <a:avLst/>
          </a:prstGeom>
          <a:solidFill>
            <a:srgbClr val="FFEDD5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i="0">
                <a:solidFill>
                  <a:srgbClr val="111827"/>
                </a:solidFill>
              </a:rPr>
              <a:t>Housing</a:t>
            </a:r>
          </a:p>
          <a:p>
            <a:pPr algn="ctr"/>
            <a:r>
              <a:rPr sz="900" b="1" i="0">
                <a:solidFill>
                  <a:srgbClr val="111827"/>
                </a:solidFill>
              </a:rPr>
              <a:t>agent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784909" y="3282696"/>
            <a:ext cx="905256" cy="795528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677717" y="4078224"/>
            <a:ext cx="1645920" cy="457200"/>
          </a:xfrm>
          <a:prstGeom prst="roundRect">
            <a:avLst/>
          </a:prstGeom>
          <a:solidFill>
            <a:srgbClr val="FFEDD5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i="0">
                <a:solidFill>
                  <a:srgbClr val="111827"/>
                </a:solidFill>
              </a:rPr>
              <a:t>Senior</a:t>
            </a:r>
          </a:p>
          <a:p>
            <a:pPr algn="ctr"/>
            <a:r>
              <a:rPr sz="900" b="1" i="0">
                <a:solidFill>
                  <a:srgbClr val="111827"/>
                </a:solidFill>
              </a:rPr>
              <a:t>agent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784909" y="3282696"/>
            <a:ext cx="2715768" cy="795528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488229" y="4078224"/>
            <a:ext cx="1645920" cy="457200"/>
          </a:xfrm>
          <a:prstGeom prst="roundRect">
            <a:avLst/>
          </a:prstGeom>
          <a:solidFill>
            <a:srgbClr val="FFEDD5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i="0">
                <a:solidFill>
                  <a:srgbClr val="111827"/>
                </a:solidFill>
              </a:rPr>
              <a:t>Employment</a:t>
            </a:r>
          </a:p>
          <a:p>
            <a:pPr algn="ctr"/>
            <a:r>
              <a:rPr sz="900" b="1" i="0">
                <a:solidFill>
                  <a:srgbClr val="111827"/>
                </a:solidFill>
              </a:rPr>
              <a:t>agent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784909" y="3282696"/>
            <a:ext cx="4526280" cy="795528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35668" y="4581144"/>
            <a:ext cx="1069848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900" i="1">
                <a:solidFill>
                  <a:srgbClr val="6B7280"/>
                </a:solidFill>
              </a:rPr>
              <a:t>Each agent uses a category-filtered retriever as a CrewAI Tool (dense + HyDE + BM25 + RRF) — Topic 5.5 §Tools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47349" y="4855464"/>
            <a:ext cx="2651760" cy="502920"/>
          </a:xfrm>
          <a:prstGeom prst="roundRect">
            <a:avLst/>
          </a:prstGeom>
          <a:solidFill>
            <a:srgbClr val="FFEDD5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i="0">
                <a:solidFill>
                  <a:srgbClr val="111827"/>
                </a:solidFill>
              </a:rPr>
              <a:t>AGGREGATOR Agent (#14)</a:t>
            </a:r>
          </a:p>
          <a:p>
            <a:pPr algn="ctr"/>
            <a:r>
              <a:rPr sz="900" b="1" i="0">
                <a:solidFill>
                  <a:srgbClr val="111827"/>
                </a:solidFill>
              </a:rPr>
              <a:t>ranks top-5 with verbatim citations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90549" y="4855464"/>
            <a:ext cx="1188720" cy="50292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1" i="0">
                <a:solidFill>
                  <a:srgbClr val="111827"/>
                </a:solidFill>
              </a:rPr>
              <a:t>HITL #2</a:t>
            </a:r>
          </a:p>
          <a:p>
            <a:pPr algn="ctr"/>
            <a:r>
              <a:rPr sz="800" b="1" i="0">
                <a:solidFill>
                  <a:srgbClr val="111827"/>
                </a:solidFill>
              </a:rPr>
              <a:t>(opt-in)</a:t>
            </a:r>
          </a:p>
          <a:p>
            <a:pPr algn="ctr"/>
            <a:r>
              <a:rPr sz="800" b="1" i="0">
                <a:solidFill>
                  <a:srgbClr val="111827"/>
                </a:solidFill>
              </a:rPr>
              <a:t>review top-5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70709" y="4855464"/>
            <a:ext cx="2651760" cy="502920"/>
          </a:xfrm>
          <a:prstGeom prst="roundRect">
            <a:avLst/>
          </a:prstGeom>
          <a:solidFill>
            <a:srgbClr val="FFEDD5"/>
          </a:solidFill>
          <a:ln w="158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1" i="0">
                <a:solidFill>
                  <a:srgbClr val="111827"/>
                </a:solidFill>
              </a:rPr>
              <a:t>CASE DOCUMENTATION OFFICER Agent (#15)</a:t>
            </a:r>
          </a:p>
          <a:p>
            <a:pPr algn="ctr"/>
            <a:r>
              <a:rPr sz="800" b="1" i="0">
                <a:solidFill>
                  <a:srgbClr val="111827"/>
                </a:solidFill>
              </a:rPr>
              <a:t>plain-English summary (family + record)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3909" y="4946903"/>
            <a:ext cx="2103120" cy="5029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900" i="1">
                <a:solidFill>
                  <a:srgbClr val="6B7280"/>
                </a:solidFill>
              </a:rPr>
              <a:t>← 2 LLM calls
(Aggregator, then Docs)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258628" y="3968496"/>
            <a:ext cx="2514601" cy="886968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069140" y="3968496"/>
            <a:ext cx="704089" cy="886968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3773229" y="3968496"/>
            <a:ext cx="1106424" cy="886968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3773229" y="3968496"/>
            <a:ext cx="2916936" cy="886968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773229" y="3968496"/>
            <a:ext cx="4727448" cy="886968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3773229" y="3968496"/>
            <a:ext cx="6537960" cy="886968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258628" y="4535424"/>
            <a:ext cx="2514601" cy="320040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069140" y="4535424"/>
            <a:ext cx="704089" cy="320040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3773229" y="4535424"/>
            <a:ext cx="1106424" cy="320040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3773229" y="4535424"/>
            <a:ext cx="2916936" cy="320040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3773229" y="4535424"/>
            <a:ext cx="4727448" cy="320040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3773229" y="4535424"/>
            <a:ext cx="6537960" cy="320040"/>
          </a:xfrm>
          <a:prstGeom prst="line">
            <a:avLst/>
          </a:prstGeom>
          <a:ln w="6350">
            <a:solidFill>
              <a:srgbClr val="9CA3A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099109" y="5106924"/>
            <a:ext cx="91440" cy="0"/>
          </a:xfrm>
          <a:prstGeom prst="line">
            <a:avLst/>
          </a:prstGeom>
          <a:ln w="15240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379269" y="5106924"/>
            <a:ext cx="91440" cy="0"/>
          </a:xfrm>
          <a:prstGeom prst="line">
            <a:avLst/>
          </a:prstGeom>
          <a:ln w="15240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1143293" y="3673862"/>
            <a:ext cx="2560320" cy="7772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900" i="1" dirty="0">
                <a:solidFill>
                  <a:srgbClr val="6B7280"/>
                </a:solidFill>
              </a:rPr>
              <a:t>Only the 2–4 agents
picked by the Triaging
Agent actually run
(in parallel).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784909" y="5477256"/>
            <a:ext cx="0" cy="164592"/>
          </a:xfrm>
          <a:prstGeom prst="line">
            <a:avLst/>
          </a:prstGeom>
          <a:ln w="19050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4413309" y="5641848"/>
            <a:ext cx="2743200" cy="347472"/>
          </a:xfrm>
          <a:prstGeom prst="roundRect">
            <a:avLst/>
          </a:prstGeom>
          <a:solidFill>
            <a:srgbClr val="E7FB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i="0">
                <a:solidFill>
                  <a:srgbClr val="111827"/>
                </a:solidFill>
              </a:rPr>
              <a:t>Faithfulness Audit (Topic 4.4)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784909" y="5989320"/>
            <a:ext cx="0" cy="109728"/>
          </a:xfrm>
          <a:prstGeom prst="line">
            <a:avLst/>
          </a:prstGeom>
          <a:ln w="19050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4413309" y="6099048"/>
            <a:ext cx="2743200" cy="347472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i="0" dirty="0">
                <a:solidFill>
                  <a:srgbClr val="111827"/>
                </a:solidFill>
              </a:rPr>
              <a:t>HITL #3 (opt-in) </a:t>
            </a:r>
            <a:r>
              <a:rPr lang="en-SG" sz="900" b="1" dirty="0">
                <a:solidFill>
                  <a:srgbClr val="111827"/>
                </a:solidFill>
              </a:rPr>
              <a:t>: </a:t>
            </a:r>
            <a:r>
              <a:rPr sz="900" b="1" i="0" dirty="0">
                <a:solidFill>
                  <a:srgbClr val="111827"/>
                </a:solidFill>
              </a:rPr>
              <a:t>SAO reviews AI's case documentation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6109" y="6492240"/>
            <a:ext cx="112776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</a:rPr>
              <a:t>Fast single-shot RAG (v1.3) remains the production default. Deep Mode opt-in via sidebar toggle. ~$0.02/query · ~25-30 sec · Topic 5.5 mastery demonstrated.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600" cy="47397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lang="en-GB" sz="2600" b="1" i="0" dirty="0">
                <a:solidFill>
                  <a:srgbClr val="1F2A44"/>
                </a:solidFill>
              </a:rPr>
              <a:t>GovTech Privacy Toolkit: </a:t>
            </a:r>
            <a:r>
              <a:rPr sz="2600" b="1" i="0" dirty="0">
                <a:solidFill>
                  <a:srgbClr val="1F2A44"/>
                </a:solidFill>
              </a:rPr>
              <a:t>CLOAK</a:t>
            </a:r>
            <a:r>
              <a:rPr lang="en-GB" sz="2600" b="1" i="0" dirty="0">
                <a:solidFill>
                  <a:srgbClr val="1F2A44"/>
                </a:solidFill>
              </a:rPr>
              <a:t> (</a:t>
            </a:r>
            <a:r>
              <a:rPr sz="2600" b="1" i="0" dirty="0">
                <a:solidFill>
                  <a:srgbClr val="1F2A44"/>
                </a:solidFill>
              </a:rPr>
              <a:t>Stage 0 PII Protection</a:t>
            </a:r>
            <a:r>
              <a:rPr lang="en-GB" sz="2600" b="1" i="0" dirty="0">
                <a:solidFill>
                  <a:srgbClr val="1F2A44"/>
                </a:solidFill>
              </a:rPr>
              <a:t>)</a:t>
            </a:r>
            <a:endParaRPr sz="2600" b="1" i="0" dirty="0">
              <a:solidFill>
                <a:srgbClr val="1F2A44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7760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</a:rPr>
              <a:t>Singapore's Whole-of-Government privacy toolkit · Topic 5.5.2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7600" cy="29260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</a:rPr>
              <a:t>🔐  How the key handshake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5547360" cy="10058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1E3A8A"/>
                </a:solidFill>
              </a:rPr>
              <a:t>🌐  PUBLIC KEY</a:t>
            </a:r>
          </a:p>
          <a:p>
            <a:pPr algn="ctr"/>
            <a:r>
              <a:rPr sz="1200" b="0" i="0">
                <a:solidFill>
                  <a:srgbClr val="1E3A8A"/>
                </a:solidFill>
              </a:rPr>
              <a:t>Like your username — sent in every request header.</a:t>
            </a:r>
          </a:p>
          <a:p>
            <a:pPr algn="ctr"/>
            <a:r>
              <a:rPr sz="1200" b="0" i="0">
                <a:solidFill>
                  <a:srgbClr val="1E3A8A"/>
                </a:solidFill>
              </a:rPr>
              <a:t>Identifies WHO the request is from. Safe if intercepted.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7440" y="1508760"/>
            <a:ext cx="5547360" cy="100584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7F1D1D"/>
                </a:solidFill>
              </a:rPr>
              <a:t>🔒  PRIVATE KEY</a:t>
            </a:r>
          </a:p>
          <a:p>
            <a:pPr algn="ctr"/>
            <a:r>
              <a:rPr sz="1200" b="0" i="0">
                <a:solidFill>
                  <a:srgbClr val="7F1D1D"/>
                </a:solidFill>
              </a:rPr>
              <a:t>Like your password — NEVER sent over the network.</a:t>
            </a:r>
          </a:p>
          <a:p>
            <a:pPr algn="ctr"/>
            <a:r>
              <a:rPr sz="1200" b="0" i="0">
                <a:solidFill>
                  <a:srgbClr val="7F1D1D"/>
                </a:solidFill>
              </a:rPr>
              <a:t>Stays local; used to sign each request with a unique fingerprint.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06040"/>
            <a:ext cx="11277600" cy="438912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 i="1">
                <a:solidFill>
                  <a:srgbClr val="111827"/>
                </a:solidFill>
              </a:rPr>
              <a:t>🕯️  Think of a wax seal: only your ring makes it, it cracks if the letter changes, and it expires at midnight.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27832"/>
            <a:ext cx="11277600" cy="2743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</a:rPr>
              <a:t>🛡️  What CLOAK redacts (7 Singapore-tuned entities)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547872"/>
          <a:ext cx="11277600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8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859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Entity type</a:t>
                      </a:r>
                    </a:p>
                  </a:txBody>
                  <a:tcPr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Original example</a:t>
                      </a:r>
                    </a:p>
                  </a:txBody>
                  <a:tcPr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Replaced with</a:t>
                      </a:r>
                    </a:p>
                  </a:txBody>
                  <a:tcPr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  <a:latin typeface="Consolas"/>
                        </a:rPr>
                        <a:t>PERSON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Mdm Kim Harin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7F1D1D"/>
                          </a:solidFill>
                          <a:latin typeface="Consolas"/>
                        </a:rPr>
                        <a:t>&lt;PERSON&gt;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  <a:latin typeface="Consolas"/>
                        </a:rPr>
                        <a:t>SG_NRIC_FIN</a:t>
                      </a:r>
                    </a:p>
                  </a:txBody>
                  <a:tcPr marT="18288" marB="18288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S8273756Y</a:t>
                      </a:r>
                    </a:p>
                  </a:txBody>
                  <a:tcPr marT="18288" marB="18288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7F1D1D"/>
                          </a:solidFill>
                          <a:latin typeface="Consolas"/>
                        </a:rPr>
                        <a:t>&lt;SG_NRIC_FIN&gt;</a:t>
                      </a:r>
                    </a:p>
                  </a:txBody>
                  <a:tcPr marT="18288" marB="18288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  <a:latin typeface="Consolas"/>
                        </a:rPr>
                        <a:t>PHONE_NUMBER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8123 4567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7F1D1D"/>
                          </a:solidFill>
                          <a:latin typeface="Consolas"/>
                        </a:rPr>
                        <a:t>&lt;PHONE_NUMBER&gt;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  <a:latin typeface="Consolas"/>
                        </a:rPr>
                        <a:t>EMAIL_ADDRESS</a:t>
                      </a:r>
                    </a:p>
                  </a:txBody>
                  <a:tcPr marT="18288" marB="18288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kim@gmail.com</a:t>
                      </a:r>
                    </a:p>
                  </a:txBody>
                  <a:tcPr marT="18288" marB="18288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7F1D1D"/>
                          </a:solidFill>
                          <a:latin typeface="Consolas"/>
                        </a:rPr>
                        <a:t>&lt;EMAIL_ADDRESS&gt;</a:t>
                      </a:r>
                    </a:p>
                  </a:txBody>
                  <a:tcPr marT="18288" marB="18288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  <a:latin typeface="Consolas"/>
                        </a:rPr>
                        <a:t>SG_BANK_ACCOUNT_NO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DBS 011-12345-6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7F1D1D"/>
                          </a:solidFill>
                          <a:latin typeface="Consolas"/>
                        </a:rPr>
                        <a:t>&lt;SG_BANK_ACCOUNT_NO&gt;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  <a:latin typeface="Consolas"/>
                        </a:rPr>
                        <a:t>SG_ADDRESS</a:t>
                      </a:r>
                    </a:p>
                  </a:txBody>
                  <a:tcPr marT="18288" marB="18288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Blk 25 Sin Ming Rd</a:t>
                      </a:r>
                    </a:p>
                  </a:txBody>
                  <a:tcPr marT="18288" marB="18288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7F1D1D"/>
                          </a:solidFill>
                          <a:latin typeface="Consolas"/>
                        </a:rPr>
                        <a:t>&lt;SG_ADDRESS&gt;</a:t>
                      </a:r>
                    </a:p>
                  </a:txBody>
                  <a:tcPr marT="18288" marB="18288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  <a:latin typeface="Consolas"/>
                        </a:rPr>
                        <a:t>DATE_TIME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born 3 April 1978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7F1D1D"/>
                          </a:solidFill>
                          <a:latin typeface="Consolas"/>
                        </a:rPr>
                        <a:t>&lt;DATE_TIME&gt;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193792"/>
            <a:ext cx="11277600" cy="777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78350F"/>
                </a:solidFill>
              </a:rPr>
              <a:t>⚠️  Fail-CLOSED (Topic 2.7): if CLOAK is unreachable or keys are missing, the request FAILS — raw PII is never passed through to the LLM.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77600" cy="2743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</a:rPr>
              <a:t>1 CLOAK call per query · ~300 ms latency · $0 cost · fixed at Stage 0 of the pipeline</a:t>
            </a:r>
          </a:p>
        </p:txBody>
      </p:sp>
      <p:sp>
        <p:nvSpPr>
          <p:cNvPr id="12" name="Action Button: Return 1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1EE46BF-66D9-DA70-3096-25F0FE103E30}"/>
              </a:ext>
            </a:extLst>
          </p:cNvPr>
          <p:cNvSpPr/>
          <p:nvPr/>
        </p:nvSpPr>
        <p:spPr>
          <a:xfrm>
            <a:off x="11378153" y="6278252"/>
            <a:ext cx="273377" cy="305428"/>
          </a:xfrm>
          <a:prstGeom prst="actionButtonRetur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Social Assistance Delivery Process </a:t>
            </a:r>
            <a:r>
              <a:rPr kumimoji="0" sz="2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(pain points)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6567" y="777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Stage 0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567" y="1051560"/>
            <a:ext cx="1828800" cy="64008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Client's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8519" y="777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Stage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2328519" y="1051560"/>
            <a:ext cx="1828800" cy="64008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Intake, prelim. assess. &amp; action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30471" y="777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Stage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0471" y="1051560"/>
            <a:ext cx="1828800" cy="64008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Detailed assessment &amp; fact-checking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32423" y="777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Stage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32423" y="1051560"/>
            <a:ext cx="1828800" cy="64008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Intervention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4375" y="777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Stage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4375" y="1051560"/>
            <a:ext cx="1828800" cy="64008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36327" y="777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Stage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36327" y="1051560"/>
            <a:ext cx="1828800" cy="64008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Handholding and review (if necc.)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" y="1371600"/>
            <a:ext cx="197967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765127" y="1371600"/>
            <a:ext cx="195225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6567" y="1874519"/>
            <a:ext cx="18288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 gap in
supporting docs.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28519" y="1874519"/>
            <a:ext cx="18288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Engage client
&amp; gather info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28519" y="2468879"/>
            <a:ext cx="18288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Asess. client's
circumstances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28519" y="3063239"/>
            <a:ext cx="18288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Create
SMART goals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30471" y="1874519"/>
            <a:ext cx="18288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 SSNet1
screening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30471" y="2468879"/>
            <a:ext cx="18288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Check supporting
documents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30471" y="3063239"/>
            <a:ext cx="18288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Verify info w/
other agencies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30471" y="3657599"/>
            <a:ext cx="18288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Conduct
home visits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32423" y="1874519"/>
            <a:ext cx="18288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Determine
client's eligibility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21927" y="1851660"/>
            <a:ext cx="18288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Put proposals
in SSNet1 for
AO to approve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8143" y="2542032"/>
            <a:ext cx="173736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📁 Client #1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15303" y="2816352"/>
            <a:ext cx="1554480" cy="201168"/>
          </a:xfrm>
          <a:prstGeom prst="rect">
            <a:avLst/>
          </a:prstGeom>
          <a:solidFill>
            <a:srgbClr val="4A90C2"/>
          </a:solidFill>
          <a:ln w="9525">
            <a:solidFill>
              <a:srgbClr val="4A9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OCV report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15303" y="3054096"/>
            <a:ext cx="1554480" cy="201168"/>
          </a:xfrm>
          <a:prstGeom prst="rect">
            <a:avLst/>
          </a:prstGeom>
          <a:solidFill>
            <a:srgbClr val="4A90C2"/>
          </a:solidFill>
          <a:ln w="9525">
            <a:solidFill>
              <a:srgbClr val="4A9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Bank statements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15303" y="3291840"/>
            <a:ext cx="1554480" cy="201168"/>
          </a:xfrm>
          <a:prstGeom prst="rect">
            <a:avLst/>
          </a:prstGeom>
          <a:solidFill>
            <a:srgbClr val="4A90C2"/>
          </a:solidFill>
          <a:ln w="9525">
            <a:solidFill>
              <a:srgbClr val="4A9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Utilities bill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15303" y="3529584"/>
            <a:ext cx="1554480" cy="201168"/>
          </a:xfrm>
          <a:prstGeom prst="rect">
            <a:avLst/>
          </a:prstGeom>
          <a:solidFill>
            <a:srgbClr val="4A90C2"/>
          </a:solidFill>
          <a:ln w="9525">
            <a:solidFill>
              <a:srgbClr val="4A9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 document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15303" y="3767328"/>
            <a:ext cx="1554480" cy="201168"/>
          </a:xfrm>
          <a:prstGeom prst="rect">
            <a:avLst/>
          </a:prstGeom>
          <a:solidFill>
            <a:srgbClr val="4A90C2"/>
          </a:solidFill>
          <a:ln w="9525">
            <a:solidFill>
              <a:srgbClr val="4A9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MC/Termination letter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8143" y="4050792"/>
            <a:ext cx="173736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📁 Client #2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754880"/>
            <a:ext cx="369813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Pain point #2: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A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SAO's manual review of high vol. docs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A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SAO need to manually review through all submitted documents to determine if candidate client is eligible or not for the applied specified welfare scheme.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46778" y="4754880"/>
            <a:ext cx="369813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Pain point #3: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rgbClr val="A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lvl="0"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A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Welfare officers are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A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mentally taxed to determine which of the many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A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welfare resources in public </a:t>
            </a:r>
            <a:r>
              <a:rPr lang="en-GB" sz="1100" b="1" dirty="0">
                <a:solidFill>
                  <a:srgbClr val="A00000"/>
                </a:solidFill>
              </a:rPr>
              <a:t>website (</a:t>
            </a:r>
            <a:r>
              <a:rPr lang="en-GB" sz="1100" b="1" dirty="0">
                <a:solidFill>
                  <a:srgbClr val="A00000"/>
                </a:solidFill>
                <a:hlinkClick r:id="rId2"/>
              </a:rPr>
              <a:t>https://supportgowhere.life.gov.sg/</a:t>
            </a:r>
            <a:r>
              <a:rPr lang="en-GB" sz="1100" b="1" dirty="0">
                <a:solidFill>
                  <a:srgbClr val="A00000"/>
                </a:solidFill>
              </a:rPr>
              <a:t>) are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A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applicable/relevant for 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A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client's unique needs.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A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SAO spend precious hours on administrative tasks – reading, analyzing, and resource hunting – instead of building relationships and providing direct support to families.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27796" y="4754880"/>
            <a:ext cx="369813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Pain point #4: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rgbClr val="A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A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SAO faces the burden of manually reviewing case notes (interview notes for client) during engagement sessions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A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determine suitable goals across the various outcome indicators (KPI)s.</a:t>
            </a:r>
          </a:p>
        </p:txBody>
      </p:sp>
      <p:sp>
        <p:nvSpPr>
          <p:cNvPr id="38" name="Oval 37"/>
          <p:cNvSpPr/>
          <p:nvPr/>
        </p:nvSpPr>
        <p:spPr>
          <a:xfrm>
            <a:off x="6436156" y="4590288"/>
            <a:ext cx="1143000" cy="347472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</a:t>
            </a:r>
            <a:r>
              <a:rPr lang="en-SG" sz="9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case 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914400" y="2971799"/>
            <a:ext cx="4230471" cy="1783081"/>
          </a:xfrm>
          <a:prstGeom prst="bentConnector3">
            <a:avLst>
              <a:gd name="adj1" fmla="val 100043"/>
            </a:avLst>
          </a:prstGeom>
          <a:ln w="22225">
            <a:solidFill>
              <a:srgbClr val="C0000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A0C0222-C3BE-569B-CDE5-00418229E0C3}"/>
              </a:ext>
            </a:extLst>
          </p:cNvPr>
          <p:cNvCxnSpPr/>
          <p:nvPr/>
        </p:nvCxnSpPr>
        <p:spPr>
          <a:xfrm>
            <a:off x="11479696" y="1691640"/>
            <a:ext cx="0" cy="30723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73510F-0AAA-A0DE-CA77-3DBCD97C2066}"/>
              </a:ext>
            </a:extLst>
          </p:cNvPr>
          <p:cNvSpPr txBox="1"/>
          <p:nvPr/>
        </p:nvSpPr>
        <p:spPr>
          <a:xfrm>
            <a:off x="1300369" y="1704493"/>
            <a:ext cx="959126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Improve productivity of resource matching</a:t>
            </a:r>
          </a:p>
          <a:p>
            <a:pPr algn="ctr"/>
            <a:r>
              <a:rPr lang="en-GB" sz="2400" b="1" dirty="0"/>
              <a:t>for Social Assistance Officers</a:t>
            </a:r>
          </a:p>
          <a:p>
            <a:pPr algn="ctr"/>
            <a:endParaRPr lang="en-SG" dirty="0"/>
          </a:p>
          <a:p>
            <a:pPr algn="ctr"/>
            <a:endParaRPr lang="en-SG" dirty="0"/>
          </a:p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17770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Legend — File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Each row in the next slides is tagged with one of these four roles.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440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64592" cy="21945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498348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E76F51"/>
                </a:solidFill>
                <a:latin typeface="Calibri"/>
              </a:rPr>
              <a:t>Core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4983480" cy="12801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A1F36"/>
                </a:solidFill>
                <a:latin typeface="Calibri"/>
              </a:rPr>
              <a:t>Modules used on every recommendation request: LLM wrapper, prompt templates, retriever, recommender, Streamlit UI. The runtime path.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554480"/>
            <a:ext cx="5440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164592" cy="21945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1719072"/>
            <a:ext cx="498348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2A9D8F"/>
                </a:solidFill>
                <a:latin typeface="Calibri"/>
              </a:rPr>
              <a:t>Data-pipeline scripts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31720"/>
            <a:ext cx="4983480" cy="12801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A1F36"/>
                </a:solidFill>
                <a:latin typeface="Calibri"/>
              </a:rPr>
              <a:t>Run once (or on a schedule) to build the SGW corpus: scrape, chunk, embed, topic-map, patch missing items. Read-then-write.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69079"/>
            <a:ext cx="5440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069079"/>
            <a:ext cx="164592" cy="2194560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233671"/>
            <a:ext cx="498348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8D99AE"/>
                </a:solidFill>
                <a:latin typeface="Calibri"/>
              </a:rPr>
              <a:t>Diagnostics / one-off probes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46319"/>
            <a:ext cx="4983480" cy="12801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A1F36"/>
                </a:solidFill>
                <a:latin typeface="Calibri"/>
              </a:rPr>
              <a:t>Forensics scripts kept in the repo for transparency: DOM probes, gap diagnoses, sample inspector. Help auditors trust the pipeline.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069079"/>
            <a:ext cx="5440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4069079"/>
            <a:ext cx="164592" cy="21945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4233671"/>
            <a:ext cx="498348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264653"/>
                </a:solidFill>
                <a:latin typeface="Calibri"/>
              </a:rPr>
              <a:t>Config &amp;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846319"/>
            <a:ext cx="4983480" cy="12801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A1F36"/>
                </a:solidFill>
                <a:latin typeface="Calibri"/>
              </a:rPr>
              <a:t>Environment + persisted artefacts: requirements.txt, .env (gitignored), .gitignore, the data/ tree with raw JSON, chunks, embeddings.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Stage 0 · Project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Environment, secrets and version control — laid down before anything else runs.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9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4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File / Action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Bootcamp topic(s)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0a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requirements.txt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Pip deps pinned: playwright, openai, python-dotenv, numpy, streamlit.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6.2 — pip + venv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Config &amp; data</a:t>
                      </a:r>
                    </a:p>
                  </a:txBody>
                  <a:tcPr marL="73152" marR="73152"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0b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.venv/  (python -m venv)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Isolated Python environment so global Python stays untouched.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6.2 — pip + venv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Config &amp; data</a:t>
                      </a:r>
                    </a:p>
                  </a:txBody>
                  <a:tcPr marL="73152" marR="73152"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0c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.env  (gitignored)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OPENAI_API_KEY=… loaded by python-dotenv at import time.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5.2 — Secure credentials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Config &amp; data</a:t>
                      </a:r>
                    </a:p>
                  </a:txBody>
                  <a:tcPr marL="73152" marR="73152"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0d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.gitignore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Excludes .venv/, .env, __pycache__/ from version control.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8.3 — Intro to Git &amp; GitHub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Config &amp; data</a:t>
                      </a:r>
                    </a:p>
                  </a:txBody>
                  <a:tcPr marL="73152" marR="73152"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Stage 1 · Data acquisition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One-time build of the SupportGoWhere corpus: 307 records / 2,147 section chunks / 12 category mappings.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9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9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4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File / Action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Bootcamp topic(s)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scraper.py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Playwright renders 296 /schemes/ + /services/ pages; saves cleaned text per record.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5.3 — Python scripts · Topic 2.7 — Exception handling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Data-pipeline scripts</a:t>
                      </a:r>
                    </a:p>
                  </a:txBody>
                  <a:tcPr marL="73152" marR="73152"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chunker.py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Splits each record into section-level chunks (tagline / highlights / who / apply / help / expect / whole).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4.2 — Pre-Retrieval · Topic 1.3 — Delimiters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Data-pipeline scripts</a:t>
                      </a:r>
                    </a:p>
                  </a:txBody>
                  <a:tcPr marL="73152" marR="73152"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embed.py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Embeds all 2,147 chunks via text-embedding-3-small; saves vectors.npy + index.jsonl.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3.1 — Embeddings · Topic 3.2 — Handling Embeddings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Data-pipeline scripts</a:t>
                      </a:r>
                    </a:p>
                  </a:txBody>
                  <a:tcPr marL="73152" marR="73152"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topic_mapper.py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Crawls the 12 /topics/&lt;slug&gt; pages, captures XHR JSON to derive category metadata per record.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4.2 — Pre-Retrieval (metadata enrichment)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Data-pipeline scripts</a:t>
                      </a:r>
                    </a:p>
                  </a:txBody>
                  <a:tcPr marL="73152" marR="73152"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4b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scrape_missing.py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Patch scraper for items present on topic pages but absent from the original sitemap (11 found).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4.5 — RAG Evaluation (coverage check)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Data-pipeline scripts</a:t>
                      </a:r>
                    </a:p>
                  </a:txBody>
                  <a:tcPr marL="73152" marR="73152"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Stage 2 · Application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Runtime modules called on every recommendation request. Designed to be imported anywhere — CLI, Streamlit, future API.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9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4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File / Action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Bootcamp topic(s)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llm.py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Thin OpenAI wrapper: get_completion() (chat) + embed_batch() (vectors); loads key from .env.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1.3 — f-strings · Topic 5.2 — Credentials · Topic 2.7 — Exceptions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Core application</a:t>
                      </a:r>
                    </a:p>
                  </a:txBody>
                  <a:tcPr marL="73152" marR="73152">
                    <a:solidFill>
                      <a:srgbClr val="E76F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prompts.py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CO-STAR template builder; XML-tag delimited candidate rendering.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1.2 — Prompt Engineering · Topic 1.3 — Delimiters · Topic 2.5 — Multi-action · Playbook p.26 (CO-STAR)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Core application</a:t>
                      </a:r>
                    </a:p>
                  </a:txBody>
                  <a:tcPr marL="73152" marR="73152">
                    <a:solidFill>
                      <a:srgbClr val="E76F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retriever.py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Loads vectors + index + topic map; search() does cosine + dedup + filter; returns typed Result objects.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3.3 — Applying Embeddings · Topic 3.4 — RAG · Topic 4.3 — Improving Retrieval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Core application</a:t>
                      </a:r>
                    </a:p>
                  </a:txBody>
                  <a:tcPr marL="73152" marR="73152">
                    <a:solidFill>
                      <a:srgbClr val="E76F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recommender.py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End-to-end UC#1: retrieve → render → generate → parse; returns RecommendationResponse.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2.6 — Prompt Chaining · Topic 4.4 — Post-Retrieval · Topic 2.7 — Exceptions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Core application</a:t>
                      </a:r>
                    </a:p>
                  </a:txBody>
                  <a:tcPr marL="73152" marR="73152">
                    <a:solidFill>
                      <a:srgbClr val="E76F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Stage 3 ·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The SAO-facing surface. Built lightweight so we can iterate fast and deploy to Streamlit Community Cloud later.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9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4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File / Action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Bootcamp topic(s)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app.py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Streamlit UI: sidebar filters (category / kind / pool size), sample queries, recommendation cards with rationale + evidence + eligibility flags, debug panels.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6.1 — Understanding Streamlit · Topic 6.3 — Working with Streamlit · Topic 8.1 — Streamlit Deep Dive (state, @st.cache_resource)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Core application</a:t>
                      </a:r>
                    </a:p>
                  </a:txBody>
                  <a:tcPr marL="73152" marR="73152">
                    <a:solidFill>
                      <a:srgbClr val="E76F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572000"/>
            <a:ext cx="11247120" cy="1737360"/>
          </a:xfrm>
          <a:prstGeom prst="rect">
            <a:avLst/>
          </a:prstGeom>
          <a:solidFill>
            <a:srgbClr val="F7F8FC"/>
          </a:solidFill>
          <a:ln w="6350">
            <a:solidFill>
              <a:srgbClr val="D8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137160" cy="17373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663440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E76F51"/>
                </a:solidFill>
                <a:latin typeface="Calibri"/>
              </a:rPr>
              <a:t>What the SAO sees at 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10515600" cy="11887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A1F36"/>
                </a:solidFill>
                <a:latin typeface="Calibri"/>
              </a:rPr>
              <a:t>Enter a 1–2 sentence client situation  →  optional filters  →  Top-N recommendations with fit-score, plain-English rationale, verbatim evidence quote from SGW, and a checklist of items the SAO should verify with the client. Each card links straight to the live SupportGoWhere page.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Stage 4 · Diagnostics &amp; probes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One-off scripts kept in the repo so any reviewer can re-run the forensics that informed our design decisions.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9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4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File / Action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Bootcamp topic(s)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D1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probe_dom.py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Initial DOM-structure investigation (homepage + scheme + service pages).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8.5 — Vibe coding (exploratory probing)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Diagnostics / one-off probes</a:t>
                      </a:r>
                    </a:p>
                  </a:txBody>
                  <a:tcPr marL="73152" marR="73152">
                    <a:solidFill>
                      <a:srgbClr val="8D99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probe_topic.py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Topic-page DOM probe (revealed that cards are JS-routed buttons, not anchors).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8.5 — Vibe coding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Diagnostics / one-off probes</a:t>
                      </a:r>
                    </a:p>
                  </a:txBody>
                  <a:tcPr marL="73152" marR="73152">
                    <a:solidFill>
                      <a:srgbClr val="8D99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D3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diagnose_topic.py · find_missing.py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Per-topic gap diagnosis — surfaced 11 items present on SGW but absent from our sitemap.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4.5 — RAG Evaluation (coverage)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Diagnostics / one-off probes</a:t>
                      </a:r>
                    </a:p>
                  </a:txBody>
                  <a:tcPr marL="73152" marR="73152">
                    <a:solidFill>
                      <a:srgbClr val="8D99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D4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inspect_corpus.py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Pretty-print sample records for eyeball QA on chunk + scrape quality.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4.5 — RAG Evaluation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Diagnostics / one-off probes</a:t>
                      </a:r>
                    </a:p>
                  </a:txBody>
                  <a:tcPr marL="73152" marR="73152">
                    <a:solidFill>
                      <a:srgbClr val="8D99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Stage 5 · Planned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Where the project goes next — already aligned to Weeks 4–9 of the bootcamp.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9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4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File / Action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Bootcamp topic(s)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68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evaluator.py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Ground-truth pairs (~10 client scenarios → expected schemes) + retrieval@k metric + LLM-judge ranking.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4.5 — RAG Evaluation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Core application</a:t>
                      </a:r>
                    </a:p>
                  </a:txBody>
                  <a:tcPr marL="73152" marR="73152">
                    <a:solidFill>
                      <a:srgbClr val="E76F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68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doc_parser.py · rules_extractor.py · eligibility_checker.py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UC#2 (Pain Point #2) — extract structured facts from uploaded client docs, match against the 'who' / 'apply' chunks already in our corpus.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2.5 — Multi-action · Topic 2.6 — Chaining · Topic 4.4 — Post-Retrieval</a:t>
                      </a:r>
                    </a:p>
                  </a:txBody>
                  <a:tcPr marL="73152" marR="73152"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Core application</a:t>
                      </a:r>
                    </a:p>
                  </a:txBody>
                  <a:tcPr marL="73152" marR="73152">
                    <a:solidFill>
                      <a:srgbClr val="E76F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68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Streamlit Cloud deployment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Push repo to GitHub, set OPENAI_API_KEY as a Streamlit secret, optional password protection.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8.2 — Password Protect · Topic 8.3 — Git / GitHub · Topic 8.4 — Deploy to Community Cloud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Config &amp; data</a:t>
                      </a:r>
                    </a:p>
                  </a:txBody>
                  <a:tcPr marL="73152" marR="73152"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Bootcamp curriculum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B7280"/>
                </a:solidFill>
              </a:rPr>
              <a:t>Every topic block the bootcamp teaches has a corresponding artefact in the repo.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7455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Week / Topic</a:t>
                      </a:r>
                    </a:p>
                  </a:txBody>
                  <a:tcPr marL="54864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What the bootcamp teaches</a:t>
                      </a:r>
                    </a:p>
                  </a:txBody>
                  <a:tcPr marL="54864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Where it lives in the Claude vibe coding repo</a:t>
                      </a:r>
                    </a:p>
                  </a:txBody>
                  <a:tcPr marL="54864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</a:rPr>
                        <a:t>Week 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LLM foundations · Prompt Engineering · CO-STAR · Tokens · Hallucinations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llm.py · prompts.py · faithfulness_check.py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</a:rPr>
                        <a:t>Week 2 (2.4 / 2.5)</a:t>
                      </a:r>
                    </a:p>
                  </a:txBody>
                  <a:tcPr marL="54864" marR="54864" marT="18288" marB="18288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Reasoning · Chain-of-Thought · Least-to-Most decomposition</a:t>
                      </a:r>
                    </a:p>
                  </a:txBody>
                  <a:tcPr marL="54864" marR="54864" marT="18288" marB="18288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decomposer.py · recommender.py (reasoning_steps in JSON schema)</a:t>
                      </a:r>
                    </a:p>
                  </a:txBody>
                  <a:tcPr marL="54864" marR="54864" marT="18288" marB="18288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</a:rPr>
                        <a:t>Week 2 (2.6)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Decision Chain: safety check · query router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safety.py · router.py · recommender.py (Stage 1-2)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</a:rPr>
                        <a:t>Week 2 (2.6) — HITL</a:t>
                      </a:r>
                    </a:p>
                  </a:txBody>
                  <a:tcPr marL="54864" marR="54864" marT="18288" marB="18288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Human-in-the-Loop as part of the workflow (3 gates)</a:t>
                      </a:r>
                    </a:p>
                  </a:txBody>
                  <a:tcPr marL="54864" marR="54864" marT="18288" marB="18288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app.py: HITL #1 case breakdown · #2 top-5 (Agent #14) · #3 case docs (Agent #15)</a:t>
                      </a:r>
                    </a:p>
                  </a:txBody>
                  <a:tcPr marL="54864" marR="54864" marT="18288" marB="18288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</a:rPr>
                        <a:t>Week 2 (2.7)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Exception handling · Fail-CLOSED design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pii_filter.py · safety.py · recommender.py (rate-limit / auth guards)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</a:rPr>
                        <a:t>Week 3 (3.x)</a:t>
                      </a:r>
                    </a:p>
                  </a:txBody>
                  <a:tcPr marL="54864" marR="54864" marT="18288" marB="18288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Embeddings · Vector search · RAG · Beyond keywords</a:t>
                      </a:r>
                    </a:p>
                  </a:txBody>
                  <a:tcPr marL="54864" marR="54864" marT="18288" marB="18288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embed.py · retriever.py · bm25_retriever.py (hybrid) · hyde.py</a:t>
                      </a:r>
                    </a:p>
                  </a:txBody>
                  <a:tcPr marL="54864" marR="54864" marT="18288" marB="18288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</a:rPr>
                        <a:t>Week 4 (4.x)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Advanced RAG · Pre / Post-retrieval · Faithfulness audit · Eval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chunker.py · hyde.py · faithfulness_check.py · ragas_eval.py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</a:rPr>
                        <a:t>Week 5 (5.x)</a:t>
                      </a:r>
                    </a:p>
                  </a:txBody>
                  <a:tcPr marL="54864" marR="54864" marT="18288" marB="18288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Agents · Multi-agent orchestration · Secure credentials</a:t>
                      </a:r>
                    </a:p>
                  </a:txBody>
                  <a:tcPr marL="54864" marR="54864" marT="18288" marB="18288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crew_runner.py (CrewAI · 15 agents) · llm.py get_secret() · .env / st.secrets</a:t>
                      </a:r>
                    </a:p>
                  </a:txBody>
                  <a:tcPr marL="54864" marR="54864" marT="18288" marB="18288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</a:rPr>
                        <a:t>Week 5 (5.5)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CrewAI multi-agent: Triaging · 12 specialists · Aggregator · Case Doc Officer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crew_runner.py · agents_config.py · recommender.py _recommend_deep_mode()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</a:rPr>
                        <a:t>Week 5 (5.5.2)</a:t>
                      </a:r>
                    </a:p>
                  </a:txBody>
                  <a:tcPr marL="54864" marR="54864" marT="18288" marB="18288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CLOAK Free-Text Anonymisation (WOG PII toolkit)</a:t>
                      </a:r>
                    </a:p>
                  </a:txBody>
                  <a:tcPr marL="54864" marR="54864" marT="18288" marB="18288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pii_filter.py (Stage 0 · fail-CLOSED · CLOAK-AUTH HMAC signing)</a:t>
                      </a:r>
                    </a:p>
                  </a:txBody>
                  <a:tcPr marL="54864" marR="54864" marT="18288" marB="18288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</a:rPr>
                        <a:t>Week 6 (6.x)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Streamlit basics · pip + venv · Debugging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requirements.txt · .venv/ · app.py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632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E3A8A"/>
                          </a:solidFill>
                        </a:rPr>
                        <a:t>Week 8 (8.x)</a:t>
                      </a:r>
                    </a:p>
                  </a:txBody>
                  <a:tcPr marL="54864" marR="54864" marT="18288" marB="18288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Streamlit Deep Dive · Password gate · Git · Deploy · Vibe coding</a:t>
                      </a:r>
                    </a:p>
                  </a:txBody>
                  <a:tcPr marL="54864" marR="54864" marT="18288" marB="18288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11827"/>
                          </a:solidFill>
                        </a:rPr>
                        <a:t>app.py (@st.cache_resource, session_state) · Streamlit Cloud deployment</a:t>
                      </a:r>
                    </a:p>
                  </a:txBody>
                  <a:tcPr marL="54864" marR="54864" marT="18288" marB="18288"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6B7280"/>
                </a:solidFill>
              </a:rPr>
              <a:t>Capstone deadline: 14 August 2026 · Politemall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1147</TotalTime>
  <Words>2581</Words>
  <Application>Microsoft Office PowerPoint</Application>
  <PresentationFormat>Widescreen</PresentationFormat>
  <Paragraphs>351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Danny Lim</dc:creator>
  <cp:keywords/>
  <dc:description>generated using python-pptx</dc:description>
  <cp:lastModifiedBy>Danny Lim</cp:lastModifiedBy>
  <cp:revision>18</cp:revision>
  <dcterms:created xsi:type="dcterms:W3CDTF">2013-01-27T09:14:16Z</dcterms:created>
  <dcterms:modified xsi:type="dcterms:W3CDTF">2026-08-15T14:32:47Z</dcterms:modified>
  <cp:category/>
</cp:coreProperties>
</file>