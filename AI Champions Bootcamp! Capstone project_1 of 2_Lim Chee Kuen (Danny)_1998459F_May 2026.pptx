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5" r:id="rId3"/>
    <p:sldId id="26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7" d="100"/>
          <a:sy n="77" d="100"/>
        </p:scale>
        <p:origin x="84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755984" cy="4678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lang="en-SG" sz="2800" b="1" dirty="0">
                <a:solidFill>
                  <a:srgbClr val="FFFFFF"/>
                </a:solidFill>
                <a:latin typeface="Calibri"/>
              </a:rPr>
              <a:t>Improve productivity of resource matching for Social Assistance Officers</a:t>
            </a:r>
            <a:endParaRPr sz="28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332720" cy="437043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lang="en-SG" sz="2600" b="0" dirty="0">
                <a:solidFill>
                  <a:srgbClr val="CADCFC"/>
                </a:solidFill>
                <a:latin typeface="Calibri"/>
              </a:rPr>
              <a:t>Capstone Project (use case 1 of 2)</a:t>
            </a:r>
            <a:endParaRPr sz="2600" b="0" dirty="0">
              <a:solidFill>
                <a:srgbClr val="CADCFC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14400" y="3749039"/>
            <a:ext cx="1828800" cy="54864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332720" cy="8371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lang="en-SG" b="0" dirty="0">
                <a:solidFill>
                  <a:srgbClr val="CADCFC"/>
                </a:solidFill>
                <a:latin typeface="Calibri"/>
              </a:rPr>
              <a:t>Lim Chee Kuen (Danny), 1998459F</a:t>
            </a:r>
          </a:p>
          <a:p>
            <a:pPr algn="l"/>
            <a:endParaRPr lang="en-SG" b="0" dirty="0">
              <a:solidFill>
                <a:srgbClr val="CADCFC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CADCFC"/>
                </a:solidFill>
                <a:latin typeface="Calibri"/>
              </a:rPr>
              <a:t>Ministry of Social and Family Development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126480"/>
            <a:ext cx="10332720" cy="25237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 dirty="0">
                <a:solidFill>
                  <a:srgbClr val="CADCFC"/>
                </a:solidFill>
                <a:latin typeface="Calibri"/>
              </a:rPr>
              <a:t>Singapore Polytechnic AI Champions Bootcamp</a:t>
            </a:r>
            <a:r>
              <a:rPr lang="en-SG" sz="1400" b="0" dirty="0">
                <a:solidFill>
                  <a:srgbClr val="CADCFC"/>
                </a:solidFill>
                <a:latin typeface="Calibri"/>
              </a:rPr>
              <a:t>!</a:t>
            </a:r>
            <a:r>
              <a:rPr sz="1400" b="0" dirty="0">
                <a:solidFill>
                  <a:srgbClr val="CADCFC"/>
                </a:solidFill>
                <a:latin typeface="Calibri"/>
              </a:rPr>
              <a:t> · 2026</a:t>
            </a:r>
            <a:r>
              <a:rPr lang="en-SG" sz="1400" b="0" dirty="0">
                <a:solidFill>
                  <a:srgbClr val="CADCFC"/>
                </a:solidFill>
                <a:latin typeface="Calibri"/>
              </a:rPr>
              <a:t> (SP-600362)</a:t>
            </a:r>
            <a:endParaRPr sz="1400" b="0" dirty="0">
              <a:solidFill>
                <a:srgbClr val="CADCF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Social Assistance Delivery Process </a:t>
            </a:r>
            <a:r>
              <a:rPr kumimoji="0" sz="22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(pain points)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6567" y="777240"/>
            <a:ext cx="1828800" cy="2286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Stage 0</a:t>
            </a:r>
          </a:p>
        </p:txBody>
      </p:sp>
      <p:sp>
        <p:nvSpPr>
          <p:cNvPr id="4" name="Rectangle 3"/>
          <p:cNvSpPr/>
          <p:nvPr/>
        </p:nvSpPr>
        <p:spPr>
          <a:xfrm>
            <a:off x="426567" y="1051560"/>
            <a:ext cx="1828800" cy="640080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Client's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28519" y="777240"/>
            <a:ext cx="1828800" cy="2286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Stage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2328519" y="1051560"/>
            <a:ext cx="1828800" cy="640080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Intake, prelim. assess. &amp; action planning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30471" y="777240"/>
            <a:ext cx="1828800" cy="2286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Stage 2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0471" y="1051560"/>
            <a:ext cx="1828800" cy="640080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Detailed assessment &amp; fact-checking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32423" y="777240"/>
            <a:ext cx="1828800" cy="2286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Stage 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32423" y="1051560"/>
            <a:ext cx="1828800" cy="640080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Intervention planning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34375" y="777240"/>
            <a:ext cx="1828800" cy="2286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Stage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34375" y="1051560"/>
            <a:ext cx="1828800" cy="640080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Recommendations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36327" y="777240"/>
            <a:ext cx="1828800" cy="2286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Stage 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936327" y="1051560"/>
            <a:ext cx="1828800" cy="640080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Handholding and review (if necc.)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" y="1371600"/>
            <a:ext cx="197967" cy="0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765127" y="1371600"/>
            <a:ext cx="195225" cy="0"/>
          </a:xfrm>
          <a:prstGeom prst="bentConnector3">
            <a:avLst/>
          </a:prstGeom>
          <a:ln w="15875">
            <a:solidFill>
              <a:srgbClr val="00000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26567" y="1874519"/>
            <a:ext cx="182880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ID gap in
supporting docs.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28519" y="1874519"/>
            <a:ext cx="182880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Engage client
&amp; gather info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519" y="2468879"/>
            <a:ext cx="182880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Asess. client's
circumstances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28519" y="3063239"/>
            <a:ext cx="182880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Create
SMART goals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30471" y="1874519"/>
            <a:ext cx="182880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Do SSNet1
screening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30471" y="2468879"/>
            <a:ext cx="182880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Check supporting
documents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30471" y="3063239"/>
            <a:ext cx="182880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Verify info w/
other agencies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30471" y="3657599"/>
            <a:ext cx="182880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Conduct
home visits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32423" y="1874519"/>
            <a:ext cx="182880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Determine
client's eligibility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21927" y="1851660"/>
            <a:ext cx="182880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Put proposals
in SSNet1 for
AO to approve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8143" y="2542032"/>
            <a:ext cx="1737360" cy="2286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📁 Client #1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15303" y="2816352"/>
            <a:ext cx="1554480" cy="201168"/>
          </a:xfrm>
          <a:prstGeom prst="rect">
            <a:avLst/>
          </a:prstGeom>
          <a:solidFill>
            <a:srgbClr val="4A90C2"/>
          </a:solidFill>
          <a:ln w="9525">
            <a:solidFill>
              <a:srgbClr val="4A90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OCV report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15303" y="3054096"/>
            <a:ext cx="1554480" cy="201168"/>
          </a:xfrm>
          <a:prstGeom prst="rect">
            <a:avLst/>
          </a:prstGeom>
          <a:solidFill>
            <a:srgbClr val="4A90C2"/>
          </a:solidFill>
          <a:ln w="9525">
            <a:solidFill>
              <a:srgbClr val="4A90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Bank statements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15303" y="3291840"/>
            <a:ext cx="1554480" cy="201168"/>
          </a:xfrm>
          <a:prstGeom prst="rect">
            <a:avLst/>
          </a:prstGeom>
          <a:solidFill>
            <a:srgbClr val="4A90C2"/>
          </a:solidFill>
          <a:ln w="9525">
            <a:solidFill>
              <a:srgbClr val="4A90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Utilities bill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15303" y="3529584"/>
            <a:ext cx="1554480" cy="201168"/>
          </a:xfrm>
          <a:prstGeom prst="rect">
            <a:avLst/>
          </a:prstGeom>
          <a:solidFill>
            <a:srgbClr val="4A90C2"/>
          </a:solidFill>
          <a:ln w="9525">
            <a:solidFill>
              <a:srgbClr val="4A90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ID document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15303" y="3767328"/>
            <a:ext cx="1554480" cy="201168"/>
          </a:xfrm>
          <a:prstGeom prst="rect">
            <a:avLst/>
          </a:prstGeom>
          <a:solidFill>
            <a:srgbClr val="4A90C2"/>
          </a:solidFill>
          <a:ln w="9525">
            <a:solidFill>
              <a:srgbClr val="4A90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MC/Termination letter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8143" y="4050792"/>
            <a:ext cx="1737360" cy="2286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📁 Client #2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4754880"/>
            <a:ext cx="3698138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Pain point #2: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A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SAO's manual review of high vol. docs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100" b="1" i="0" u="none" strike="noStrike" kern="1200" cap="none" spc="0" normalizeH="0" baseline="0" noProof="0">
              <a:ln>
                <a:noFill/>
              </a:ln>
              <a:solidFill>
                <a:srgbClr val="A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A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SAO need to manually review through all submitted documents to determine if candidate client is eligible or not for the applied specified welfare scheme.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46778" y="4754880"/>
            <a:ext cx="3698138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Pain point #3: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rgbClr val="A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A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SAO is mentally taxed to determine which of the many MSF </a:t>
            </a:r>
            <a:r>
              <a:rPr kumimoji="0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A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programmes</a:t>
            </a:r>
            <a:r>
              <a: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A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&amp; community resources can help each client's unique needs.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100" b="1" i="0" u="none" strike="noStrike" kern="1200" cap="none" spc="0" normalizeH="0" baseline="0" noProof="0" dirty="0">
              <a:ln>
                <a:noFill/>
              </a:ln>
              <a:solidFill>
                <a:srgbClr val="A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 dirty="0">
                <a:ln>
                  <a:noFill/>
                </a:ln>
                <a:solidFill>
                  <a:srgbClr val="A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SAO spend precious hours on administrative tasks – reading, analyzing, and resource hunting – instead of building relationships and providing direct support to families.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27796" y="4754880"/>
            <a:ext cx="3698138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Pain point #4: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rgbClr val="A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A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SAO faces the burden of manually reviewing case notes (interview notes for client) during engagement sessions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100" b="1" i="0" u="none" strike="noStrike" kern="1200" cap="none" spc="0" normalizeH="0" baseline="0" noProof="0" dirty="0">
              <a:ln>
                <a:noFill/>
              </a:ln>
              <a:solidFill>
                <a:srgbClr val="A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 dirty="0">
                <a:ln>
                  <a:noFill/>
                </a:ln>
                <a:solidFill>
                  <a:srgbClr val="A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 determine suitable goals across the various outcome indicators (KPI)s.</a:t>
            </a:r>
          </a:p>
        </p:txBody>
      </p:sp>
      <p:sp>
        <p:nvSpPr>
          <p:cNvPr id="37" name="Oval 36"/>
          <p:cNvSpPr/>
          <p:nvPr/>
        </p:nvSpPr>
        <p:spPr>
          <a:xfrm>
            <a:off x="2829458" y="4581144"/>
            <a:ext cx="1143000" cy="347472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en-SG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</a:t>
            </a:r>
            <a:r>
              <a:rPr kumimoji="0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</a:t>
            </a:r>
            <a:r>
              <a:rPr kumimoji="0" lang="en-SG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case #2</a:t>
            </a:r>
          </a:p>
        </p:txBody>
      </p:sp>
      <p:sp>
        <p:nvSpPr>
          <p:cNvPr id="38" name="Oval 37"/>
          <p:cNvSpPr/>
          <p:nvPr/>
        </p:nvSpPr>
        <p:spPr>
          <a:xfrm>
            <a:off x="6436156" y="4590288"/>
            <a:ext cx="1143000" cy="347472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</a:t>
            </a:r>
            <a:r>
              <a:rPr kumimoji="0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</a:t>
            </a:r>
            <a:r>
              <a:rPr lang="en-SG" sz="9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kumimoji="0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case #1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914400" y="2971799"/>
            <a:ext cx="4230471" cy="1783081"/>
          </a:xfrm>
          <a:prstGeom prst="bentConnector3">
            <a:avLst>
              <a:gd name="adj1" fmla="val 100043"/>
            </a:avLst>
          </a:prstGeom>
          <a:ln w="22225">
            <a:solidFill>
              <a:srgbClr val="C0000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A0C0222-C3BE-569B-CDE5-00418229E0C3}"/>
              </a:ext>
            </a:extLst>
          </p:cNvPr>
          <p:cNvCxnSpPr/>
          <p:nvPr/>
        </p:nvCxnSpPr>
        <p:spPr>
          <a:xfrm>
            <a:off x="11479696" y="1691640"/>
            <a:ext cx="0" cy="30723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73510F-0AAA-A0DE-CA77-3DBCD97C2066}"/>
              </a:ext>
            </a:extLst>
          </p:cNvPr>
          <p:cNvSpPr txBox="1"/>
          <p:nvPr/>
        </p:nvSpPr>
        <p:spPr>
          <a:xfrm>
            <a:off x="1300369" y="1704493"/>
            <a:ext cx="959126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3600" b="1" dirty="0"/>
              <a:t>Use Case 1 of 2</a:t>
            </a:r>
          </a:p>
          <a:p>
            <a:pPr algn="ctr"/>
            <a:endParaRPr lang="en-SG" dirty="0"/>
          </a:p>
          <a:p>
            <a:pPr algn="ctr"/>
            <a:r>
              <a:rPr lang="en-GB" sz="2400" b="1" dirty="0"/>
              <a:t>Improve productivity of resource matching</a:t>
            </a:r>
          </a:p>
          <a:p>
            <a:pPr algn="ctr"/>
            <a:r>
              <a:rPr lang="en-GB" sz="2400" b="1" dirty="0"/>
              <a:t>for Social Assistance Officers</a:t>
            </a:r>
          </a:p>
          <a:p>
            <a:pPr algn="ctr"/>
            <a:endParaRPr lang="en-SG" dirty="0"/>
          </a:p>
          <a:p>
            <a:pPr algn="ctr"/>
            <a:endParaRPr lang="en-SG" dirty="0"/>
          </a:p>
          <a:p>
            <a:pPr algn="ctr"/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917770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800" b="1">
                <a:solidFill>
                  <a:srgbClr val="1E2761"/>
                </a:solidFill>
                <a:latin typeface="Calibri"/>
              </a:rPr>
              <a:t>Legend — File categories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Each row in the next slides is tagged with one of these four roles.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544068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64592" cy="219456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719072"/>
            <a:ext cx="498348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E76F51"/>
                </a:solidFill>
                <a:latin typeface="Calibri"/>
              </a:rPr>
              <a:t>Core application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4983480" cy="12801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A1F36"/>
                </a:solidFill>
                <a:latin typeface="Calibri"/>
              </a:rPr>
              <a:t>Modules used on every recommendation request: LLM wrapper, prompt templates, retriever, recommender, Streamlit UI. The runtime path.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554480"/>
            <a:ext cx="544068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309360" y="1554480"/>
            <a:ext cx="164592" cy="219456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29400" y="1719072"/>
            <a:ext cx="498348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2A9D8F"/>
                </a:solidFill>
                <a:latin typeface="Calibri"/>
              </a:rPr>
              <a:t>Data-pipeline scripts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983480" cy="12801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A1F36"/>
                </a:solidFill>
                <a:latin typeface="Calibri"/>
              </a:rPr>
              <a:t>Run once (or on a schedule) to build the SGW corpus: scrape, chunk, embed, topic-map, patch missing items. Read-then-write.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069079"/>
            <a:ext cx="544068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4069079"/>
            <a:ext cx="164592" cy="2194560"/>
          </a:xfrm>
          <a:prstGeom prst="rect">
            <a:avLst/>
          </a:prstGeom>
          <a:solidFill>
            <a:srgbClr val="8D99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233671"/>
            <a:ext cx="498348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8D99AE"/>
                </a:solidFill>
                <a:latin typeface="Calibri"/>
              </a:rPr>
              <a:t>Diagnostics / one-off probes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46319"/>
            <a:ext cx="4983480" cy="12801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A1F36"/>
                </a:solidFill>
                <a:latin typeface="Calibri"/>
              </a:rPr>
              <a:t>Forensics scripts kept in the repo for transparency: DOM probes, gap diagnoses, sample inspector. Help auditors trust the pipeline.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4069079"/>
            <a:ext cx="544068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60" y="4069079"/>
            <a:ext cx="164592" cy="2194560"/>
          </a:xfrm>
          <a:prstGeom prst="rect">
            <a:avLst/>
          </a:pr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29400" y="4233671"/>
            <a:ext cx="498348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264653"/>
                </a:solidFill>
                <a:latin typeface="Calibri"/>
              </a:rPr>
              <a:t>Config &amp;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846319"/>
            <a:ext cx="4983480" cy="12801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A1F36"/>
                </a:solidFill>
                <a:latin typeface="Calibri"/>
              </a:rPr>
              <a:t>Environment + persisted artefacts: requirements.txt, .env (gitignored), .gitignore, the data/ tree with raw JSON, chunks, embeddings.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800" b="1">
                <a:solidFill>
                  <a:srgbClr val="1E2761"/>
                </a:solidFill>
                <a:latin typeface="Calibri"/>
              </a:rPr>
              <a:t>Stage 0 · Project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Environment, secrets and version control — laid down before anything else runs.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1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48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990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43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File / Action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Bootcamp topic(s)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013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0a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requirements.txt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Pip deps pinned: playwright, openai, python-dotenv, numpy, streamlit.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6.2 — pip + venv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Config &amp; data</a:t>
                      </a:r>
                    </a:p>
                  </a:txBody>
                  <a:tcPr marL="73152" marR="73152">
                    <a:solidFill>
                      <a:srgbClr val="26465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013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0b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.venv/  (python -m venv)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Isolated Python environment so global Python stays untouched.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6.2 — pip + venv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Config &amp; data</a:t>
                      </a:r>
                    </a:p>
                  </a:txBody>
                  <a:tcPr marL="73152" marR="73152">
                    <a:solidFill>
                      <a:srgbClr val="26465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4013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0c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.env  (gitignored)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OPENAI_API_KEY=… loaded by python-dotenv at import time.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5.2 — Secure credentials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Config &amp; data</a:t>
                      </a:r>
                    </a:p>
                  </a:txBody>
                  <a:tcPr marL="73152" marR="73152">
                    <a:solidFill>
                      <a:srgbClr val="26465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4013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0d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.gitignore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Excludes .venv/, .env, __pycache__/ from version control.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8.3 — Intro to Git &amp; GitHub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Config &amp; data</a:t>
                      </a:r>
                    </a:p>
                  </a:txBody>
                  <a:tcPr marL="73152" marR="73152">
                    <a:solidFill>
                      <a:srgbClr val="26465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800" b="1">
                <a:solidFill>
                  <a:srgbClr val="1E2761"/>
                </a:solidFill>
                <a:latin typeface="Calibri"/>
              </a:rPr>
              <a:t>Stage 1 · Data acquisition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One-time build of the SupportGoWhere corpus: 307 records / 2,147 section chunks / 12 category mappings.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19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48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990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43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File / Action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Bootcamp topic(s)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696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scraper.py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Playwright renders 296 /schemes/ + /services/ pages; saves cleaned text per record.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5.3 — Python scripts · Topic 2.7 — Exception handling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Data-pipeline scripts</a:t>
                      </a:r>
                    </a:p>
                  </a:txBody>
                  <a:tcPr marL="73152" marR="73152">
                    <a:solidFill>
                      <a:srgbClr val="2A9D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696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chunker.py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Splits each record into section-level chunks (tagline / highlights / who / apply / help / expect / whole).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4.2 — Pre-Retrieval · Topic 1.3 — Delimiters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Data-pipeline scripts</a:t>
                      </a:r>
                    </a:p>
                  </a:txBody>
                  <a:tcPr marL="73152" marR="73152">
                    <a:solidFill>
                      <a:srgbClr val="2A9D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8696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embed.py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Embeds all 2,147 chunks via text-embedding-3-small; saves vectors.npy + index.jsonl.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3.1 — Embeddings · Topic 3.2 — Handling Embeddings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Data-pipeline scripts</a:t>
                      </a:r>
                    </a:p>
                  </a:txBody>
                  <a:tcPr marL="73152" marR="73152">
                    <a:solidFill>
                      <a:srgbClr val="2A9D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8696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topic_mapper.py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Crawls the 12 /topics/&lt;slug&gt; pages, captures XHR JSON to derive category metadata per record.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4.2 — Pre-Retrieval (metadata enrichment)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Data-pipeline scripts</a:t>
                      </a:r>
                    </a:p>
                  </a:txBody>
                  <a:tcPr marL="73152" marR="73152">
                    <a:solidFill>
                      <a:srgbClr val="2A9D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8696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4b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scrape_missing.py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Patch scraper for items present on topic pages but absent from the original sitemap (11 found).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4.5 — RAG Evaluation (coverage check)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Data-pipeline scripts</a:t>
                      </a:r>
                    </a:p>
                  </a:txBody>
                  <a:tcPr marL="73152" marR="73152">
                    <a:solidFill>
                      <a:srgbClr val="2A9D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800" b="1">
                <a:solidFill>
                  <a:srgbClr val="1E2761"/>
                </a:solidFill>
                <a:latin typeface="Calibri"/>
              </a:rPr>
              <a:t>Stage 2 · Application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Runtime modules called on every recommendation request. Designed to be imported anywhere — CLI, Streamlit, future API.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1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48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990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43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File / Action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Bootcamp topic(s)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013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llm.py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Thin OpenAI wrapper: get_completion() (chat) + embed_batch() (vectors); loads key from .env.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1.3 — f-strings · Topic 5.2 — Credentials · Topic 2.7 — Exceptions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Core application</a:t>
                      </a:r>
                    </a:p>
                  </a:txBody>
                  <a:tcPr marL="73152" marR="73152">
                    <a:solidFill>
                      <a:srgbClr val="E76F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013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prompts.py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CO-STAR template builder; XML-tag delimited candidate rendering.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1.2 — Prompt Engineering · Topic 1.3 — Delimiters · Topic 2.5 — Multi-action · Playbook p.26 (CO-STAR)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Core application</a:t>
                      </a:r>
                    </a:p>
                  </a:txBody>
                  <a:tcPr marL="73152" marR="73152">
                    <a:solidFill>
                      <a:srgbClr val="E76F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4013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retriever.py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Loads vectors + index + topic map; search() does cosine + dedup + filter; returns typed Result objects.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3.3 — Applying Embeddings · Topic 3.4 — RAG · Topic 4.3 — Improving Retrieval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Core application</a:t>
                      </a:r>
                    </a:p>
                  </a:txBody>
                  <a:tcPr marL="73152" marR="73152">
                    <a:solidFill>
                      <a:srgbClr val="E76F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4013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recommender.py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End-to-end UC#1: retrieve → render → generate → parse; returns RecommendationResponse.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2.6 — Prompt Chaining · Topic 4.4 — Post-Retrieval · Topic 2.7 — Exceptions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Core application</a:t>
                      </a:r>
                    </a:p>
                  </a:txBody>
                  <a:tcPr marL="73152" marR="73152">
                    <a:solidFill>
                      <a:srgbClr val="E76F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800" b="1">
                <a:solidFill>
                  <a:srgbClr val="1E2761"/>
                </a:solidFill>
                <a:latin typeface="Calibri"/>
              </a:rPr>
              <a:t>Stage 3 · 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The SAO-facing surface. Built lightweight so we can iterate fast and deploy to Streamlit Community Cloud later.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1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48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990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43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File / Action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Bootcamp topic(s)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172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app.py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Streamlit UI: sidebar filters (category / kind / pool size), sample queries, recommendation cards with rationale + evidence + eligibility flags, debug panels.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6.1 — Understanding Streamlit · Topic 6.3 — Working with Streamlit · Topic 8.1 — Streamlit Deep Dive (state, @st.cache_resource)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Core application</a:t>
                      </a:r>
                    </a:p>
                  </a:txBody>
                  <a:tcPr marL="73152" marR="73152">
                    <a:solidFill>
                      <a:srgbClr val="E76F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4572000"/>
            <a:ext cx="11247120" cy="1737360"/>
          </a:xfrm>
          <a:prstGeom prst="rect">
            <a:avLst/>
          </a:prstGeom>
          <a:solidFill>
            <a:srgbClr val="F7F8FC"/>
          </a:solidFill>
          <a:ln w="6350">
            <a:solidFill>
              <a:srgbClr val="D8D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137160" cy="173736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4663440"/>
            <a:ext cx="10515600" cy="4114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500" b="1">
                <a:solidFill>
                  <a:srgbClr val="E76F51"/>
                </a:solidFill>
                <a:latin typeface="Calibri"/>
              </a:rPr>
              <a:t>What the SAO sees at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74920"/>
            <a:ext cx="10515600" cy="11887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A1F36"/>
                </a:solidFill>
                <a:latin typeface="Calibri"/>
              </a:rPr>
              <a:t>Enter a 1–2 sentence client situation  →  optional filters  →  Top-N recommendations with fit-score, plain-English rationale, verbatim evidence quote from SGW, and a checklist of items the SAO should verify with the client. Each card links straight to the live SupportGoWhere page.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800" b="1">
                <a:solidFill>
                  <a:srgbClr val="1E2761"/>
                </a:solidFill>
                <a:latin typeface="Calibri"/>
              </a:rPr>
              <a:t>Stage 4 · Diagnostics &amp; probes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One-off scripts kept in the repo so any reviewer can re-run the forensics that informed our design decisions.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1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48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990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43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File / Action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Bootcamp topic(s)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013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D1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probe_dom.py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Initial DOM-structure investigation (homepage + scheme + service pages).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8.5 — Vibe coding (exploratory probing)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Diagnostics / one-off probes</a:t>
                      </a:r>
                    </a:p>
                  </a:txBody>
                  <a:tcPr marL="73152" marR="73152">
                    <a:solidFill>
                      <a:srgbClr val="8D99A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013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D2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probe_topic.py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Topic-page DOM probe (revealed that cards are JS-routed buttons, not anchors).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8.5 — Vibe coding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Diagnostics / one-off probes</a:t>
                      </a:r>
                    </a:p>
                  </a:txBody>
                  <a:tcPr marL="73152" marR="73152">
                    <a:solidFill>
                      <a:srgbClr val="8D99A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4013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D3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diagnose_topic.py · find_missing.py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Per-topic gap diagnosis — surfaced 11 items present on SGW but absent from our sitemap.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4.5 — RAG Evaluation (coverage)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Diagnostics / one-off probes</a:t>
                      </a:r>
                    </a:p>
                  </a:txBody>
                  <a:tcPr marL="73152" marR="73152">
                    <a:solidFill>
                      <a:srgbClr val="8D99A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4013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D4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inspect_corpus.py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Pretty-print sample records for eyeball QA on chunk + scrape quality.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4.5 — RAG Evaluation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Diagnostics / one-off probes</a:t>
                      </a:r>
                    </a:p>
                  </a:txBody>
                  <a:tcPr marL="73152" marR="73152">
                    <a:solidFill>
                      <a:srgbClr val="8D99A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800" b="1">
                <a:solidFill>
                  <a:srgbClr val="1E2761"/>
                </a:solidFill>
                <a:latin typeface="Calibri"/>
              </a:rPr>
              <a:t>Stage 5 · Planned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Where the project goes next — already aligned to Weeks 4–9 of the bootcamp.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1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48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990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43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File / Action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Bootcamp topic(s)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8684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evaluator.py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Ground-truth pairs (~10 client scenarios → expected schemes) + retrieval@k metric + LLM-judge ranking.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4.5 — RAG Evaluation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Core application</a:t>
                      </a:r>
                    </a:p>
                  </a:txBody>
                  <a:tcPr marL="73152" marR="73152">
                    <a:solidFill>
                      <a:srgbClr val="E76F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8684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doc_parser.py · rules_extractor.py · eligibility_checker.py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UC#2 (Pain Point #2) — extract structured facts from uploaded client docs, match against the 'who' / 'apply' chunks already in our corpus.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2.5 — Multi-action · Topic 2.6 — Chaining · Topic 4.4 — Post-Retrieval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Core application</a:t>
                      </a:r>
                    </a:p>
                  </a:txBody>
                  <a:tcPr marL="73152" marR="73152">
                    <a:solidFill>
                      <a:srgbClr val="E76F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8684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Streamlit Cloud deployment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Push repo to GitHub, set OPENAI_API_KEY as a Streamlit secret, optional password protection.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Topic 8.2 — Password Protect · Topic 8.3 — Git / GitHub · Topic 8.4 — Deploy to Community Cloud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Config &amp; data</a:t>
                      </a:r>
                    </a:p>
                  </a:txBody>
                  <a:tcPr marL="73152" marR="73152">
                    <a:solidFill>
                      <a:srgbClr val="26465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800" b="1">
                <a:solidFill>
                  <a:srgbClr val="1E2761"/>
                </a:solidFill>
                <a:latin typeface="Calibri"/>
              </a:rPr>
              <a:t>Bootcamp curriculum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Every topic block the bootcamp teaches has a corresponding artefact in the repo.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19" cy="47548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95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612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63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Week / Topic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the bootcamp teaches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Where it lives in this repo</a:t>
                      </a:r>
                    </a:p>
                  </a:txBody>
                  <a:tcPr marL="73152" marR="7315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0485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Week 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LLM foundations · Prompt Engineering · f-strings · Tokens · Hallucinations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llm.py · prompts.py (CO-STAR)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0485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Week 2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Advanced prompting · Chaining · Multi-action · Exception handling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recommender.py (chained pipeline + JSON parse guard) · llm.py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0485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Week 3 (Topic 3.x)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Embeddings · Handling embeddings · RAG · Search beyond keywords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embed.py · retriever.py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485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Week 4 (Topic 4.x)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Advanced RAG · Pre / Post-retrieval · Evaluation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chunker.py (pre) · recommender.py (post) · planned evaluator.py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0485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Week 5 (Topic 5.x)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Agents · Secure credentials · Python scripts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.env / python-dotenv · scraper.py · clean script structure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0485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Week 6 (Topic 6.x)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Streamlit basics · pip + venv · Debugging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requirements.txt · .venv/ · app.py</a:t>
                      </a:r>
                    </a:p>
                  </a:txBody>
                  <a:tcPr marL="73152" marR="73152">
                    <a:solidFill>
                      <a:srgbClr val="F7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0485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Week 8 (Topic 8.x)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Streamlit Deep Dive · Password protect · Git · Deploy · (Vibe coding)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F36"/>
                          </a:solidFill>
                          <a:latin typeface="Calibri"/>
                        </a:rPr>
                        <a:t>app.py (@st.cache_resource, session_state) · planned deployment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Capstone deadline: 14 August 2026 · Politemall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1738</Words>
  <Application>Microsoft Office PowerPoint</Application>
  <PresentationFormat>Widescreen</PresentationFormat>
  <Paragraphs>243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Danny Lim</cp:lastModifiedBy>
  <cp:revision>5</cp:revision>
  <dcterms:created xsi:type="dcterms:W3CDTF">2013-01-27T09:14:16Z</dcterms:created>
  <dcterms:modified xsi:type="dcterms:W3CDTF">2026-05-28T15:17:37Z</dcterms:modified>
  <cp:category/>
</cp:coreProperties>
</file>